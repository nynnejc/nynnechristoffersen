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Space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SpaceMono-bold.fntdata"/><Relationship Id="rId12" Type="http://schemas.openxmlformats.org/officeDocument/2006/relationships/slide" Target="slides/slide7.xml"/><Relationship Id="rId34" Type="http://schemas.openxmlformats.org/officeDocument/2006/relationships/font" Target="fonts/SpaceMono-regular.fntdata"/><Relationship Id="rId15" Type="http://schemas.openxmlformats.org/officeDocument/2006/relationships/slide" Target="slides/slide10.xml"/><Relationship Id="rId37" Type="http://schemas.openxmlformats.org/officeDocument/2006/relationships/font" Target="fonts/SpaceMono-boldItalic.fntdata"/><Relationship Id="rId14" Type="http://schemas.openxmlformats.org/officeDocument/2006/relationships/slide" Target="slides/slide9.xml"/><Relationship Id="rId36" Type="http://schemas.openxmlformats.org/officeDocument/2006/relationships/font" Target="fonts/SpaceMon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8c973add1_0_0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f8c973add1_0_0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6147eb4b7275f6fe_0_3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h6147eb4b7275f6fe_0_3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8c973add1_0_4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f8c973add1_0_4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8c973add1_0_9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f8c973add1_0_9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630de21ddb58daf2_0_0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h630de21ddb58daf2_0_0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8c973add1_0_13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f8c973add1_0_13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f8c973add1_0_20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f8c973add1_0_20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8c973add1_0_28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f8c973add1_0_28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8c973add1_0_37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g3f8c973add1_0_37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8c973add1_0_41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8c973add1_0_41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8c973add1_0_46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8c973add1_0_46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8c973add1_0_50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f8c973add1_0_50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8c973add1_0_54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f8c973add1_0_54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8c973add1_0_59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f8c973add1_0_59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8c973add1_0_63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8c973add1_0_63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8c973add1_0_67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8c973add1_0_67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8c973add1_0_72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8c973add1_0_72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8c973add1_0_77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8c973add1_0_77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8c973add1_0_81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8c973add1_0_81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8c973add1_0_85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f8c973add1_0_85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8c973add1_0_90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f8c973add1_0_90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8c973add1_0_94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f8c973add1_0_94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8c973add1_0_98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8c973add1_0_98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8c973add1_0_103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8c973add1_0_103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8c973add1_0_108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f8c973add1_0_108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8c973add1_0_113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8c973add1_0_113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8c973add1_0_118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8c973add1_0_118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8c973add1_0_123:notes"/>
          <p:cNvSpPr txBox="1"/>
          <p:nvPr>
            <p:ph idx="1" type="body"/>
          </p:nvPr>
        </p:nvSpPr>
        <p:spPr>
          <a:xfrm>
            <a:off x="685797" y="4343387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f8c973add1_0_123:notes"/>
          <p:cNvSpPr/>
          <p:nvPr>
            <p:ph idx="2" type="sldImg"/>
          </p:nvPr>
        </p:nvSpPr>
        <p:spPr>
          <a:xfrm>
            <a:off x="1143067" y="685799"/>
            <a:ext cx="4572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2240111" y="3355775"/>
            <a:ext cx="46638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7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2240111" y="3355775"/>
            <a:ext cx="46638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87825" y="225517"/>
            <a:ext cx="7768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7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46686" y="1232664"/>
            <a:ext cx="4023900" cy="33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1" i="0" sz="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87825" y="225517"/>
            <a:ext cx="77685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700">
                <a:solidFill>
                  <a:schemeClr val="lt1"/>
                </a:solidFill>
                <a:latin typeface="Droid Sans Mono"/>
                <a:ea typeface="Droid Sans Mono"/>
                <a:cs typeface="Droid Sans Mono"/>
                <a:sym typeface="Droid San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08960" y="4783455"/>
            <a:ext cx="2925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00"/>
              <a:buNone/>
              <a:defRPr sz="6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p5.j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exp.paperdove.com/chillin/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p5js.org/" TargetMode="External"/><Relationship Id="rId6" Type="http://schemas.openxmlformats.org/officeDocument/2006/relationships/hyperlink" Target="https://editor.p5js.org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hyperlink" Target="https://p5js.org/reference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sublimetext.com/" TargetMode="External"/><Relationship Id="rId4" Type="http://schemas.openxmlformats.org/officeDocument/2006/relationships/hyperlink" Target="https://code.visualstudio.com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happycoding.io/tutorials/p5js/" TargetMode="External"/><Relationship Id="rId4" Type="http://schemas.openxmlformats.org/officeDocument/2006/relationships/hyperlink" Target="https://youtu.be/yPWkPOfnGsw?si=BUHQdm4UW1-uhgb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1539300" y="318525"/>
            <a:ext cx="6065400" cy="38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500"/>
              <a:buNone/>
            </a:pPr>
            <a:r>
              <a:rPr b="1" lang="en" sz="3200">
                <a:solidFill>
                  <a:srgbClr val="FFA3E0"/>
                </a:solidFill>
              </a:rPr>
              <a:t>✷..°　　☆·　·　.　　·　　°•</a:t>
            </a:r>
            <a:endParaRPr b="1" sz="3200">
              <a:solidFill>
                <a:srgbClr val="FFA3E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500"/>
              <a:buNone/>
            </a:pPr>
            <a:r>
              <a:rPr b="1" lang="en" sz="3200">
                <a:solidFill>
                  <a:srgbClr val="FFA3E0"/>
                </a:solidFill>
              </a:rPr>
              <a:t>.✦　　*　°.　✧•　　　　·　　✦　　　.　　✧</a:t>
            </a:r>
            <a:endParaRPr b="1" sz="3200">
              <a:solidFill>
                <a:srgbClr val="FFA3E0"/>
              </a:solidFill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ts val="500"/>
              <a:buNone/>
            </a:pPr>
            <a:r>
              <a:rPr b="1" lang="en" sz="4200">
                <a:solidFill>
                  <a:srgbClr val="FFA3E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Convivial Coding for beginners with p5.js</a:t>
            </a:r>
            <a:endParaRPr b="1" sz="4200">
              <a:solidFill>
                <a:srgbClr val="FFA2E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515100" y="1210325"/>
            <a:ext cx="8113800" cy="32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A2E0"/>
                </a:solidFill>
              </a:rPr>
              <a:t>Resources/tutorials:</a:t>
            </a:r>
            <a:endParaRPr>
              <a:solidFill>
                <a:srgbClr val="FFA2E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rgbClr val="FFA3E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9BF199"/>
                </a:solidFill>
                <a:latin typeface="Space Mono"/>
                <a:ea typeface="Space Mono"/>
                <a:cs typeface="Space Mono"/>
                <a:sym typeface="Space Mono"/>
              </a:rPr>
              <a:t>nynnechristoffersen.com/files</a:t>
            </a:r>
            <a:endParaRPr sz="4200">
              <a:solidFill>
                <a:srgbClr val="9BF199"/>
              </a:solidFill>
              <a:latin typeface="Space Mono"/>
              <a:ea typeface="Space Mono"/>
              <a:cs typeface="Space Mono"/>
              <a:sym typeface="Space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rgbClr val="FFA3E0"/>
              </a:solidFill>
              <a:latin typeface="Space Mono"/>
              <a:ea typeface="Space Mono"/>
              <a:cs typeface="Space Mono"/>
              <a:sym typeface="Space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/>
        </p:nvSpPr>
        <p:spPr>
          <a:xfrm>
            <a:off x="646686" y="1547244"/>
            <a:ext cx="7944600" cy="22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25">
            <a:spAutoFit/>
          </a:bodyPr>
          <a:lstStyle/>
          <a:p>
            <a:pPr indent="-203200" lvl="0" marL="203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600"/>
              <a:buFont typeface="Droid Sans Mono"/>
              <a:buChar char="●"/>
            </a:pPr>
            <a:r>
              <a:rPr lang="en" sz="16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Hi intro welcome</a:t>
            </a:r>
            <a:endParaRPr sz="16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203200" lvl="0" marL="203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600"/>
              <a:buFont typeface="Droid Sans Mono"/>
              <a:buChar char="●"/>
            </a:pPr>
            <a:r>
              <a:rPr lang="en" sz="16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Creative coding with. </a:t>
            </a:r>
            <a:r>
              <a:rPr lang="en" sz="1600" u="sng">
                <a:solidFill>
                  <a:srgbClr val="9BF199"/>
                </a:solidFill>
                <a:latin typeface="Droid Sans Mono"/>
                <a:ea typeface="Droid Sans Mono"/>
                <a:cs typeface="Droid Sans Mono"/>
                <a:sym typeface="Droid Sans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P5.js</a:t>
            </a:r>
            <a:endParaRPr sz="1600">
              <a:solidFill>
                <a:srgbClr val="9BF19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203200" lvl="0" marL="203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600"/>
              <a:buFont typeface="Droid Sans Mono"/>
              <a:buChar char="●"/>
            </a:pPr>
            <a:r>
              <a:rPr lang="en" sz="16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Snack break</a:t>
            </a:r>
            <a:endParaRPr sz="16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203200" lvl="0" marL="203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600"/>
              <a:buFont typeface="Droid Sans Mono"/>
              <a:buChar char="●"/>
            </a:pPr>
            <a:r>
              <a:rPr lang="en" sz="16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Exercises</a:t>
            </a:r>
            <a:endParaRPr sz="16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203200" lvl="0" marL="203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600"/>
              <a:buFont typeface="Droid Sans Mono"/>
              <a:buChar char="●"/>
            </a:pPr>
            <a:r>
              <a:rPr lang="en" sz="16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Round up + Resources to keep learning</a:t>
            </a:r>
            <a:endParaRPr sz="16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82" name="Google Shape;82;p18"/>
          <p:cNvSpPr txBox="1"/>
          <p:nvPr>
            <p:ph type="title"/>
          </p:nvPr>
        </p:nvSpPr>
        <p:spPr>
          <a:xfrm>
            <a:off x="687825" y="225517"/>
            <a:ext cx="77685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FFA2E0"/>
                </a:solidFill>
              </a:rPr>
              <a:t>Agenda·°·*❁✿❀❁✿❀</a:t>
            </a:r>
            <a:endParaRPr b="1" sz="4200">
              <a:solidFill>
                <a:srgbClr val="FFA2E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1177500" y="1598100"/>
            <a:ext cx="6789000" cy="19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FFA3E0"/>
                </a:solidFill>
              </a:rPr>
              <a:t>𓅰 𓅬 𓅭 𓅮 𓅯</a:t>
            </a:r>
            <a:endParaRPr sz="4200">
              <a:solidFill>
                <a:srgbClr val="FFA3E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FFA3E0"/>
                </a:solidFill>
              </a:rPr>
              <a:t>Hi my name is Nynne, </a:t>
            </a:r>
            <a:r>
              <a:rPr lang="en" sz="4200">
                <a:solidFill>
                  <a:srgbClr val="FFA3E0"/>
                </a:solidFill>
              </a:rPr>
              <a:t>what's</a:t>
            </a:r>
            <a:r>
              <a:rPr lang="en" sz="4200">
                <a:solidFill>
                  <a:srgbClr val="FFA3E0"/>
                </a:solidFill>
              </a:rPr>
              <a:t> yours?</a:t>
            </a:r>
            <a:endParaRPr sz="4200">
              <a:solidFill>
                <a:srgbClr val="FFA3E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2041075" y="1598100"/>
            <a:ext cx="6006600" cy="19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FFA3E0"/>
                </a:solidFill>
              </a:rPr>
              <a:t>p5.js</a:t>
            </a:r>
            <a:endParaRPr sz="4200">
              <a:solidFill>
                <a:srgbClr val="FFA3E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rgbClr val="FFA3E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FFA3E0"/>
                </a:solidFill>
              </a:rPr>
              <a:t>𓆬</a:t>
            </a:r>
            <a:r>
              <a:rPr lang="en" sz="4200">
                <a:solidFill>
                  <a:srgbClr val="FFA3E0"/>
                </a:solidFill>
              </a:rPr>
              <a:t>𓆦𓆣𓆤𓆧</a:t>
            </a:r>
            <a:r>
              <a:rPr lang="en" sz="4200">
                <a:solidFill>
                  <a:srgbClr val="FFA3E0"/>
                </a:solidFill>
              </a:rPr>
              <a:t>𓆨𓆑</a:t>
            </a:r>
            <a:endParaRPr sz="4200">
              <a:solidFill>
                <a:srgbClr val="FFA3E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title"/>
          </p:nvPr>
        </p:nvSpPr>
        <p:spPr>
          <a:xfrm>
            <a:off x="687825" y="225517"/>
            <a:ext cx="77685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00">
            <a:spAutoFit/>
          </a:bodyPr>
          <a:lstStyle/>
          <a:p>
            <a:pPr indent="0" lvl="0" marL="307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FFA3E0"/>
                </a:solidFill>
              </a:rPr>
              <a:t>p5.js</a:t>
            </a:r>
            <a:endParaRPr sz="4200">
              <a:solidFill>
                <a:srgbClr val="FFA3E0"/>
              </a:solidFill>
            </a:endParaRPr>
          </a:p>
        </p:txBody>
      </p:sp>
      <p:sp>
        <p:nvSpPr>
          <p:cNvPr id="98" name="Google Shape;98;p21"/>
          <p:cNvSpPr txBox="1"/>
          <p:nvPr/>
        </p:nvSpPr>
        <p:spPr>
          <a:xfrm>
            <a:off x="646686" y="1632010"/>
            <a:ext cx="3712500" cy="19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200">
            <a:spAutoFit/>
          </a:bodyPr>
          <a:lstStyle/>
          <a:p>
            <a:pPr indent="-228600" lvl="0" marL="241300" marR="0" rtl="0" algn="l">
              <a:lnSpc>
                <a:spcPct val="1241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2000"/>
              <a:buFont typeface="Droid Sans Mono"/>
              <a:buChar char="•"/>
            </a:pPr>
            <a:r>
              <a:rPr lang="en" sz="16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p5.js is a library that lets you draw graphic shapes and interactive graphic design and generative art for the screen, with code.</a:t>
            </a:r>
            <a:endParaRPr sz="16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roid Sans Mono"/>
              <a:buNone/>
            </a:pPr>
            <a:r>
              <a:t/>
            </a:r>
            <a:endParaRPr sz="16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228600" lvl="0" marL="241300" marR="520700" rtl="0" algn="l">
              <a:lnSpc>
                <a:spcPct val="1241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2000"/>
              <a:buFont typeface="Droid Sans Mono"/>
              <a:buChar char="•"/>
            </a:pPr>
            <a:r>
              <a:rPr lang="en" sz="16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Creative Coding</a:t>
            </a:r>
            <a:endParaRPr sz="16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99" name="Google Shape;99;p21"/>
          <p:cNvSpPr txBox="1"/>
          <p:nvPr/>
        </p:nvSpPr>
        <p:spPr>
          <a:xfrm>
            <a:off x="5601691" y="4112926"/>
            <a:ext cx="30927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4225">
            <a:spAutoFit/>
          </a:bodyPr>
          <a:lstStyle/>
          <a:p>
            <a:pPr indent="-171450" lvl="0" marL="215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100"/>
              <a:buFont typeface="Droid Sans Mono"/>
              <a:buChar char="•"/>
            </a:pPr>
            <a:r>
              <a:rPr lang="en" sz="11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https://openprocessing.org/</a:t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65100" lvl="0" marL="1651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4EDE9"/>
              </a:buClr>
              <a:buSzPts val="1400"/>
              <a:buFont typeface="Droid Sans Mono"/>
              <a:buChar char="•"/>
            </a:pPr>
            <a:r>
              <a:rPr lang="en" sz="1100" u="sng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https://exp.paperdove.com/chillin/</a:t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pic>
        <p:nvPicPr>
          <p:cNvPr id="100" name="Google Shape;100;p21" title="Screenshot 2025-05-28 at 10.09.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3651" y="979020"/>
            <a:ext cx="3712265" cy="2980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687825" y="225517"/>
            <a:ext cx="77685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00">
            <a:spAutoFit/>
          </a:bodyPr>
          <a:lstStyle/>
          <a:p>
            <a:pPr indent="0" lvl="0" marL="3073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FFA3E0"/>
                </a:solidFill>
              </a:rPr>
              <a:t>p5.js</a:t>
            </a:r>
            <a:endParaRPr sz="4200">
              <a:solidFill>
                <a:srgbClr val="FFA3E0"/>
              </a:solidFill>
            </a:endParaRPr>
          </a:p>
        </p:txBody>
      </p:sp>
      <p:pic>
        <p:nvPicPr>
          <p:cNvPr id="106" name="Google Shape;1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823" y="1046382"/>
            <a:ext cx="3704347" cy="33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8735" y="1046382"/>
            <a:ext cx="3704347" cy="33783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589536" y="4331548"/>
            <a:ext cx="24303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25">
            <a:spAutoFit/>
          </a:bodyPr>
          <a:lstStyle/>
          <a:p>
            <a:pPr indent="-228600" lvl="0" marL="241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2000"/>
              <a:buFont typeface="Droid Sans Mono"/>
              <a:buChar char="•"/>
            </a:pPr>
            <a:r>
              <a:rPr lang="en" sz="1600" u="sng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https://p5js.org/</a:t>
            </a:r>
            <a:endParaRPr sz="16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109" name="Google Shape;109;p22"/>
          <p:cNvSpPr txBox="1"/>
          <p:nvPr/>
        </p:nvSpPr>
        <p:spPr>
          <a:xfrm>
            <a:off x="5209161" y="4279229"/>
            <a:ext cx="35007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875">
            <a:spAutoFit/>
          </a:bodyPr>
          <a:lstStyle/>
          <a:p>
            <a:pPr indent="-1714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100"/>
              <a:buFont typeface="Droid Sans Mono"/>
              <a:buChar char="•"/>
            </a:pPr>
            <a:r>
              <a:rPr lang="en" sz="1100" u="sng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https://editor.p5js.org/</a:t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7145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100"/>
              <a:buFont typeface="Droid Sans Mono"/>
              <a:buChar char="•"/>
            </a:pPr>
            <a:r>
              <a:rPr b="1" lang="en" sz="11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You must login to use it!</a:t>
            </a:r>
            <a:endParaRPr b="1"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87825" y="260172"/>
            <a:ext cx="77685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00">
            <a:spAutoFit/>
          </a:bodyPr>
          <a:lstStyle/>
          <a:p>
            <a:pPr indent="0" lvl="0" marL="787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FFA3E0"/>
                </a:solidFill>
              </a:rPr>
              <a:t>Our first sketch</a:t>
            </a:r>
            <a:endParaRPr sz="4200">
              <a:solidFill>
                <a:srgbClr val="FFA3E0"/>
              </a:solidFill>
            </a:endParaRP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242187" y="1117866"/>
            <a:ext cx="3230400" cy="3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-139700" lvl="0" marL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400"/>
              <a:buFont typeface="Courier New"/>
              <a:buChar char="•"/>
            </a:pPr>
            <a:r>
              <a:rPr lang="en" sz="1400">
                <a:solidFill>
                  <a:srgbClr val="F4EDE9"/>
                </a:solidFill>
              </a:rPr>
              <a:t>setup()</a:t>
            </a:r>
            <a:endParaRPr sz="1400">
              <a:solidFill>
                <a:srgbClr val="F4EDE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t/>
            </a:r>
            <a:endParaRPr sz="1200">
              <a:solidFill>
                <a:srgbClr val="F4EDE9"/>
              </a:solidFill>
            </a:endParaRPr>
          </a:p>
          <a:p>
            <a:pPr indent="-76200" lvl="1" marL="20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4EDE9"/>
              </a:buClr>
              <a:buSzPts val="1200"/>
              <a:buFont typeface="Droid Sans Mono"/>
              <a:buChar char="•"/>
            </a:pPr>
            <a:r>
              <a:rPr lang="en" sz="12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Is called as the first thing when the program runs. 	Usually contains start variables and functions e.g. 	Background color and screen size. Can only be called once.</a:t>
            </a:r>
            <a:endParaRPr sz="12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1" marL="203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Droid Sans Mono"/>
              <a:buNone/>
            </a:pPr>
            <a:r>
              <a:t/>
            </a:r>
            <a:endParaRPr sz="12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39700" lvl="0" marL="127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400"/>
              <a:buFont typeface="Courier New"/>
              <a:buChar char="•"/>
            </a:pPr>
            <a:r>
              <a:rPr lang="en" sz="1400">
                <a:solidFill>
                  <a:srgbClr val="F4EDE9"/>
                </a:solidFill>
              </a:rPr>
              <a:t>createCanvas()</a:t>
            </a:r>
            <a:endParaRPr sz="1400">
              <a:solidFill>
                <a:srgbClr val="F4EDE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urier New"/>
              <a:buNone/>
            </a:pPr>
            <a:r>
              <a:t/>
            </a:r>
            <a:endParaRPr sz="1200">
              <a:solidFill>
                <a:srgbClr val="F4EDE9"/>
              </a:solidFill>
            </a:endParaRPr>
          </a:p>
          <a:p>
            <a:pPr indent="-76200" lvl="1" marL="20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4EDE9"/>
              </a:buClr>
              <a:buSzPts val="1200"/>
              <a:buFont typeface="Droid Sans Mono"/>
              <a:buChar char="•"/>
            </a:pPr>
            <a:r>
              <a:rPr lang="en" sz="12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Called only once. Must be placed in the </a:t>
            </a:r>
            <a:r>
              <a:rPr b="1" lang="en" sz="12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setup()</a:t>
            </a:r>
            <a:r>
              <a:rPr lang="en" sz="12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function. Creates a canvas with dimensions in pixels. Without parameters, canvas becomes 100x100 pixels.</a:t>
            </a:r>
            <a:endParaRPr sz="12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pic>
        <p:nvPicPr>
          <p:cNvPr id="116" name="Google Shape;1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5633" y="1282061"/>
            <a:ext cx="2574944" cy="307593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/>
        </p:nvSpPr>
        <p:spPr>
          <a:xfrm>
            <a:off x="6579607" y="4389310"/>
            <a:ext cx="30834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-158750" lvl="0" marL="20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Droid Sans Mono"/>
              <a:buChar char="•"/>
            </a:pPr>
            <a:r>
              <a:rPr lang="en" sz="1100" u="sng">
                <a:solidFill>
                  <a:srgbClr val="FFFFFF"/>
                </a:solidFill>
                <a:latin typeface="Droid Sans Mono"/>
                <a:ea typeface="Droid Sans Mono"/>
                <a:cs typeface="Droid Sans Mono"/>
                <a:sym typeface="Droid Sans Mon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https://p5js.org/reference/</a:t>
            </a:r>
            <a:endParaRPr sz="1100"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  <p:sp>
        <p:nvSpPr>
          <p:cNvPr id="118" name="Google Shape;118;p23"/>
          <p:cNvSpPr txBox="1"/>
          <p:nvPr/>
        </p:nvSpPr>
        <p:spPr>
          <a:xfrm>
            <a:off x="4228044" y="1221003"/>
            <a:ext cx="4395900" cy="2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" name="Google Shape;119;p23"/>
          <p:cNvSpPr txBox="1"/>
          <p:nvPr/>
        </p:nvSpPr>
        <p:spPr>
          <a:xfrm>
            <a:off x="3472499" y="1117866"/>
            <a:ext cx="3000300" cy="28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spAutoFit/>
          </a:bodyPr>
          <a:lstStyle/>
          <a:p>
            <a:pPr indent="-139700" lvl="0" marL="127000" rtl="0" algn="l"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400"/>
              <a:buFont typeface="Courier New"/>
              <a:buChar char="•"/>
            </a:pPr>
            <a:r>
              <a:rPr b="1" lang="en" sz="1400">
                <a:solidFill>
                  <a:srgbClr val="F4EDE9"/>
                </a:solidFill>
                <a:latin typeface="Courier New"/>
                <a:ea typeface="Courier New"/>
                <a:cs typeface="Courier New"/>
                <a:sym typeface="Courier New"/>
              </a:rPr>
              <a:t>draw()</a:t>
            </a:r>
            <a:endParaRPr b="1" sz="1400">
              <a:solidFill>
                <a:srgbClr val="F4EDE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ourier New"/>
              <a:buNone/>
            </a:pPr>
            <a:r>
              <a:t/>
            </a:r>
            <a:endParaRPr b="1" sz="1200">
              <a:solidFill>
                <a:srgbClr val="F4EDE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76200" lvl="1" marL="20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200"/>
              <a:buFont typeface="Droid Sans Mono"/>
              <a:buChar char="•"/>
            </a:pPr>
            <a:r>
              <a:rPr lang="en" sz="12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Runs the code inserted in the body in a loop until </a:t>
            </a:r>
            <a:r>
              <a:rPr b="1" lang="en" sz="12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noLoop() </a:t>
            </a:r>
            <a:r>
              <a:rPr lang="en" sz="12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is called.</a:t>
            </a:r>
            <a:endParaRPr sz="12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1" marL="203200" rtl="0" algn="l"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Droid Sans Mono"/>
              <a:buNone/>
            </a:pPr>
            <a:r>
              <a:t/>
            </a:r>
            <a:endParaRPr sz="12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39700" lvl="0" marL="127000" rtl="0" algn="l"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400"/>
              <a:buFont typeface="Courier New"/>
              <a:buChar char="•"/>
            </a:pPr>
            <a:r>
              <a:rPr b="1" lang="en" sz="1400">
                <a:solidFill>
                  <a:srgbClr val="F4EDE9"/>
                </a:solidFill>
                <a:latin typeface="Courier New"/>
                <a:ea typeface="Courier New"/>
                <a:cs typeface="Courier New"/>
                <a:sym typeface="Courier New"/>
              </a:rPr>
              <a:t>background()</a:t>
            </a:r>
            <a:endParaRPr b="1" sz="1400">
              <a:solidFill>
                <a:srgbClr val="F4EDE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Courier New"/>
              <a:buNone/>
            </a:pPr>
            <a:r>
              <a:t/>
            </a:r>
            <a:endParaRPr b="1" sz="1200">
              <a:solidFill>
                <a:srgbClr val="F4EDE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76200" lvl="1" marL="20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200"/>
              <a:buFont typeface="Droid Sans Mono"/>
              <a:buChar char="•"/>
            </a:pPr>
            <a:r>
              <a:rPr lang="en" sz="12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Sets the background color. If not used, the background is transparent. A number is understood as grayscale and string as CSS color. Three parameters RGB (default), HSB or HSL.</a:t>
            </a:r>
            <a:endParaRPr sz="12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4EDE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/>
        </p:nvSpPr>
        <p:spPr>
          <a:xfrm>
            <a:off x="1370456" y="1563662"/>
            <a:ext cx="6772800" cy="13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FFA3E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Our First Sketch: Shapes ⟡▲●⬥⛋⬤◙◒❒◼⬟▪▦⧉</a:t>
            </a:r>
            <a:endParaRPr sz="4200">
              <a:solidFill>
                <a:srgbClr val="FFA3E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687825" y="225517"/>
            <a:ext cx="7768500" cy="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00">
            <a:spAutoFit/>
          </a:bodyPr>
          <a:lstStyle/>
          <a:p>
            <a:pPr indent="0" lvl="0" marL="2908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FFA3E0"/>
                </a:solidFill>
              </a:rPr>
              <a:t>Shapes</a:t>
            </a:r>
            <a:endParaRPr sz="4200">
              <a:solidFill>
                <a:srgbClr val="FFA3E0"/>
              </a:solidFill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646686" y="522733"/>
            <a:ext cx="7869600" cy="44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-146050" lvl="0" marL="1143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500"/>
              <a:buFont typeface="Courier New"/>
              <a:buChar char="•"/>
            </a:pPr>
            <a:r>
              <a:rPr b="1" lang="en" sz="1500">
                <a:solidFill>
                  <a:srgbClr val="F4EDE9"/>
                </a:solidFill>
                <a:latin typeface="Courier New"/>
                <a:ea typeface="Courier New"/>
                <a:cs typeface="Courier New"/>
                <a:sym typeface="Courier New"/>
              </a:rPr>
              <a:t>line()</a:t>
            </a:r>
            <a:endParaRPr b="1" sz="1500">
              <a:solidFill>
                <a:srgbClr val="F4EDE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t/>
            </a:r>
            <a:endParaRPr sz="1100">
              <a:solidFill>
                <a:srgbClr val="F4EDE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07950" lvl="1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100"/>
              <a:buFont typeface="Droid Sans Mono"/>
              <a:buChar char="•"/>
            </a:pPr>
            <a:r>
              <a:rPr lang="en" sz="11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Syntax: line(x1, y1, x2, y2)</a:t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1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roid Sans Mono"/>
              <a:buNone/>
            </a:pPr>
            <a:r>
              <a:t/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20650" lvl="2" marL="584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100"/>
              <a:buFont typeface="Droid Sans Mono"/>
              <a:buChar char="•"/>
            </a:pPr>
            <a:r>
              <a:rPr lang="en" sz="11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Draws a line</a:t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2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roid Sans Mono"/>
              <a:buNone/>
            </a:pPr>
            <a:r>
              <a:t/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71450" lvl="2" marL="622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100"/>
              <a:buFont typeface="Droid Sans Mono"/>
              <a:buChar char="•"/>
            </a:pPr>
            <a:r>
              <a:rPr lang="en" sz="11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Has no weight / size and therefore cannot use fill(). Instead, use stroke() to change the color and strokeWeight() to change the width of the line.</a:t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2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roid Sans Mono"/>
              <a:buNone/>
            </a:pPr>
            <a:r>
              <a:t/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46050" lvl="0" marL="1143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500"/>
              <a:buFont typeface="Courier New"/>
              <a:buChar char="•"/>
            </a:pPr>
            <a:r>
              <a:rPr b="1" lang="en" sz="1500">
                <a:solidFill>
                  <a:srgbClr val="F4EDE9"/>
                </a:solidFill>
                <a:latin typeface="Courier New"/>
                <a:ea typeface="Courier New"/>
                <a:cs typeface="Courier New"/>
                <a:sym typeface="Courier New"/>
              </a:rPr>
              <a:t>circle()</a:t>
            </a:r>
            <a:endParaRPr sz="1500">
              <a:solidFill>
                <a:srgbClr val="F4EDE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t/>
            </a:r>
            <a:endParaRPr sz="1100">
              <a:solidFill>
                <a:srgbClr val="F4EDE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07950" lvl="1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100"/>
              <a:buFont typeface="Droid Sans Mono"/>
              <a:buChar char="•"/>
            </a:pPr>
            <a:r>
              <a:rPr lang="en" sz="11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Syntax: circle(x, y, d)</a:t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1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roid Sans Mono"/>
              <a:buNone/>
            </a:pPr>
            <a:r>
              <a:t/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20650" lvl="2" marL="584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100"/>
              <a:buFont typeface="Droid Sans Mono"/>
              <a:buChar char="•"/>
            </a:pPr>
            <a:r>
              <a:rPr lang="en" sz="11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Draws a circle</a:t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2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roid Sans Mono"/>
              <a:buNone/>
            </a:pPr>
            <a:r>
              <a:t/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71450" lvl="2" marL="622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100"/>
              <a:buFont typeface="Droid Sans Mono"/>
              <a:buChar char="•"/>
            </a:pPr>
            <a:r>
              <a:rPr lang="en" sz="11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The first two parameters define the location of the center of the circle. Third parameter defines the diameter of the circle.</a:t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2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roid Sans Mono"/>
              <a:buNone/>
            </a:pPr>
            <a:r>
              <a:t/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20650" lvl="2" marL="584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100"/>
              <a:buFont typeface="Droid Sans Mono"/>
              <a:buChar char="•"/>
            </a:pPr>
            <a:r>
              <a:rPr lang="en" sz="11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Alternative to ellipse()</a:t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2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roid Sans Mono"/>
              <a:buNone/>
            </a:pPr>
            <a:r>
              <a:t/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46050" lvl="0" marL="1143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500"/>
              <a:buFont typeface="Courier New"/>
              <a:buChar char="•"/>
            </a:pPr>
            <a:r>
              <a:rPr b="1" lang="en" sz="1500">
                <a:solidFill>
                  <a:srgbClr val="F4EDE9"/>
                </a:solidFill>
                <a:latin typeface="Courier New"/>
                <a:ea typeface="Courier New"/>
                <a:cs typeface="Courier New"/>
                <a:sym typeface="Courier New"/>
              </a:rPr>
              <a:t>square()</a:t>
            </a:r>
            <a:endParaRPr sz="1500">
              <a:solidFill>
                <a:srgbClr val="F4EDE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ourier New"/>
              <a:buNone/>
            </a:pPr>
            <a:r>
              <a:t/>
            </a:r>
            <a:endParaRPr sz="1100">
              <a:solidFill>
                <a:srgbClr val="F4EDE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107950" lvl="1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100"/>
              <a:buFont typeface="Droid Sans Mono"/>
              <a:buChar char="•"/>
            </a:pPr>
            <a:r>
              <a:rPr lang="en" sz="11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Syntax: square(x, y, d)</a:t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20650" lvl="2" marL="584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100"/>
              <a:buFont typeface="Droid Sans Mono"/>
              <a:buChar char="•"/>
            </a:pPr>
            <a:r>
              <a:rPr lang="en" sz="11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Draws a square</a:t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2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roid Sans Mono"/>
              <a:buNone/>
            </a:pPr>
            <a:r>
              <a:t/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71450" lvl="2" marL="622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100"/>
              <a:buFont typeface="Droid Sans Mono"/>
              <a:buChar char="•"/>
            </a:pPr>
            <a:r>
              <a:rPr lang="en" sz="11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The first two parameters define the location of the square's upper left corner. Third parameter defines the length of the side of the square.</a:t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2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Droid Sans Mono"/>
              <a:buNone/>
            </a:pPr>
            <a:r>
              <a:t/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20650" lvl="2" marL="584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100"/>
              <a:buFont typeface="Droid Sans Mono"/>
              <a:buChar char="•"/>
            </a:pPr>
            <a:r>
              <a:rPr lang="en" sz="11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Alternative to rect()</a:t>
            </a:r>
            <a:endParaRPr sz="11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idx="1" type="subTitle"/>
          </p:nvPr>
        </p:nvSpPr>
        <p:spPr>
          <a:xfrm>
            <a:off x="2240095" y="1319785"/>
            <a:ext cx="4663800" cy="20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A3E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△</a:t>
            </a:r>
            <a:r>
              <a:rPr lang="en" sz="4200">
                <a:solidFill>
                  <a:srgbClr val="FFA3E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〇</a:t>
            </a:r>
            <a:r>
              <a:rPr b="0" lang="en" sz="6500">
                <a:solidFill>
                  <a:srgbClr val="FFA3E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□</a:t>
            </a:r>
            <a:endParaRPr b="0" sz="6500">
              <a:solidFill>
                <a:srgbClr val="FFA3E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700">
                <a:solidFill>
                  <a:srgbClr val="FFA3E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live coding</a:t>
            </a:r>
            <a:endParaRPr sz="3700">
              <a:solidFill>
                <a:srgbClr val="FFA3E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rPr b="0" lang="en" sz="2100">
                <a:solidFill>
                  <a:srgbClr val="FFA3E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Line, circle &amp; square</a:t>
            </a:r>
            <a:endParaRPr sz="2100">
              <a:solidFill>
                <a:srgbClr val="FFA3E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/>
        </p:nvSpPr>
        <p:spPr>
          <a:xfrm>
            <a:off x="2373999" y="1822693"/>
            <a:ext cx="43959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FFA3E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Exercise ✧･ﾟ: *✧･ﾟ:* ‧͙⁺˚*･༓☾</a:t>
            </a:r>
            <a:endParaRPr b="1" sz="4200">
              <a:solidFill>
                <a:srgbClr val="FFA3E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A3E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1363050" y="1881950"/>
            <a:ext cx="6417900" cy="13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FFA3E0"/>
                </a:solidFill>
              </a:rPr>
              <a:t>Solution for the exercise𓆝𓆟𓆞𓆝𓆟</a:t>
            </a:r>
            <a:endParaRPr sz="4200">
              <a:solidFill>
                <a:srgbClr val="FFA3E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2629364" y="143260"/>
            <a:ext cx="3885300" cy="3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FFA3E0"/>
                </a:solidFill>
              </a:rPr>
              <a:t>•·　•·°　.　•*✵✷★.°•.*°　✷　☆ ✯*• °*.*　*°°.•　·　°·*</a:t>
            </a:r>
            <a:endParaRPr sz="4200">
              <a:solidFill>
                <a:srgbClr val="FFA3E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FFA3E0"/>
                </a:solidFill>
              </a:rPr>
              <a:t>Snack Break</a:t>
            </a:r>
            <a:endParaRPr sz="4200">
              <a:solidFill>
                <a:srgbClr val="FFA3E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1621050" y="1449300"/>
            <a:ext cx="6546300" cy="1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75">
            <a:spAutoFit/>
          </a:bodyPr>
          <a:lstStyle/>
          <a:p>
            <a:pPr indent="0" lvl="0" marL="0" marR="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FFA3E0"/>
                </a:solidFill>
              </a:rPr>
              <a:t>𓇢𓆸 </a:t>
            </a:r>
            <a:r>
              <a:rPr lang="en" sz="4200">
                <a:solidFill>
                  <a:srgbClr val="FFA3E0"/>
                </a:solidFill>
              </a:rPr>
              <a:t>Movement and Interactivity</a:t>
            </a:r>
            <a:endParaRPr sz="4200">
              <a:solidFill>
                <a:srgbClr val="FFA3E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>
            <p:ph type="title"/>
          </p:nvPr>
        </p:nvSpPr>
        <p:spPr>
          <a:xfrm>
            <a:off x="687825" y="225517"/>
            <a:ext cx="77685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700">
            <a:spAutoFit/>
          </a:bodyPr>
          <a:lstStyle/>
          <a:p>
            <a:pPr indent="0" lvl="0" marL="0" marR="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700">
                <a:solidFill>
                  <a:srgbClr val="FFA3E0"/>
                </a:solidFill>
              </a:rPr>
              <a:t>Movement and Interactivity</a:t>
            </a:r>
            <a:endParaRPr sz="3700"/>
          </a:p>
        </p:txBody>
      </p:sp>
      <p:sp>
        <p:nvSpPr>
          <p:cNvPr id="161" name="Google Shape;161;p31"/>
          <p:cNvSpPr txBox="1"/>
          <p:nvPr/>
        </p:nvSpPr>
        <p:spPr>
          <a:xfrm>
            <a:off x="687826" y="2079345"/>
            <a:ext cx="5745900" cy="13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25">
            <a:spAutoFit/>
          </a:bodyPr>
          <a:lstStyle/>
          <a:p>
            <a:pPr indent="-228600" lvl="0" marL="203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urier New"/>
              <a:buChar char="•"/>
            </a:pPr>
            <a:r>
              <a:rPr b="1" lang="en" sz="16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How do we make something move?</a:t>
            </a:r>
            <a:endParaRPr b="1" sz="16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03200" lvl="0" marL="203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Char char="•"/>
            </a:pPr>
            <a:r>
              <a:rPr b="1" lang="en" sz="16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Re-positioning our form</a:t>
            </a:r>
            <a:endParaRPr b="1" sz="16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03200" lvl="0" marL="203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ourier New"/>
              <a:buChar char="•"/>
            </a:pPr>
            <a:r>
              <a:rPr b="1" lang="en" sz="16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Using our draw() function's loop</a:t>
            </a:r>
            <a:endParaRPr b="1" sz="16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 txBox="1"/>
          <p:nvPr>
            <p:ph type="title"/>
          </p:nvPr>
        </p:nvSpPr>
        <p:spPr>
          <a:xfrm>
            <a:off x="687825" y="225517"/>
            <a:ext cx="7768500" cy="6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6700">
            <a:spAutoFit/>
          </a:bodyPr>
          <a:lstStyle/>
          <a:p>
            <a:pPr indent="0" lvl="0" marL="0" marR="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rgbClr val="FFA3E0"/>
                </a:solidFill>
              </a:rPr>
              <a:t>Movement and Interactivity</a:t>
            </a:r>
            <a:endParaRPr/>
          </a:p>
        </p:txBody>
      </p:sp>
      <p:sp>
        <p:nvSpPr>
          <p:cNvPr id="167" name="Google Shape;167;p32"/>
          <p:cNvSpPr txBox="1"/>
          <p:nvPr/>
        </p:nvSpPr>
        <p:spPr>
          <a:xfrm>
            <a:off x="646686" y="2013936"/>
            <a:ext cx="7413000" cy="14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25">
            <a:spAutoFit/>
          </a:bodyPr>
          <a:lstStyle/>
          <a:p>
            <a:pPr indent="-228600" lvl="0" marL="203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urier New"/>
              <a:buChar char="•"/>
            </a:pPr>
            <a:r>
              <a:rPr b="1" lang="en" sz="16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How do we make something interactive?</a:t>
            </a:r>
            <a:endParaRPr b="1" sz="1600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03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ourier New"/>
              <a:buChar char="•"/>
            </a:pPr>
            <a:r>
              <a:rPr lang="en" sz="1600">
                <a:solidFill>
                  <a:srgbClr val="FFFF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Take input from mouse or keyboard</a:t>
            </a:r>
            <a:endParaRPr sz="1600">
              <a:solidFill>
                <a:srgbClr val="FFFFFF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203200" lvl="0" marL="203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roid Sans Mono"/>
              <a:buChar char="•"/>
            </a:pPr>
            <a:r>
              <a:rPr lang="en" sz="1600">
                <a:solidFill>
                  <a:srgbClr val="FFFFFF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Use built-in I/O functions and variables in p5.js, for example mouseIsPressed</a:t>
            </a:r>
            <a:endParaRPr sz="1600">
              <a:solidFill>
                <a:srgbClr val="FFFFFF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idx="1" type="subTitle"/>
          </p:nvPr>
        </p:nvSpPr>
        <p:spPr>
          <a:xfrm>
            <a:off x="2240111" y="2056250"/>
            <a:ext cx="4663800" cy="11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700">
                <a:solidFill>
                  <a:srgbClr val="FFA3E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live Code </a:t>
            </a:r>
            <a:r>
              <a:rPr b="0" lang="en" sz="4200">
                <a:solidFill>
                  <a:srgbClr val="FFA3E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⛋</a:t>
            </a:r>
            <a:endParaRPr sz="3700">
              <a:solidFill>
                <a:srgbClr val="FFA3E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1200"/>
              </a:spcAft>
              <a:buNone/>
            </a:pPr>
            <a:r>
              <a:rPr b="0" lang="en" sz="2100">
                <a:solidFill>
                  <a:srgbClr val="FFA3E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Moving rectangle</a:t>
            </a:r>
            <a:endParaRPr sz="2100">
              <a:solidFill>
                <a:srgbClr val="FFA3E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/>
        </p:nvSpPr>
        <p:spPr>
          <a:xfrm>
            <a:off x="2373999" y="1822693"/>
            <a:ext cx="43959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FFA3E0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Exercise ✧･ﾟ: *✧･ﾟ:* ‧͙⁺˚*･༓☾</a:t>
            </a:r>
            <a:endParaRPr b="1" sz="4200">
              <a:solidFill>
                <a:srgbClr val="FFA3E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FA3E0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"/>
          <p:cNvSpPr txBox="1"/>
          <p:nvPr>
            <p:ph type="title"/>
          </p:nvPr>
        </p:nvSpPr>
        <p:spPr>
          <a:xfrm>
            <a:off x="2138245" y="1428911"/>
            <a:ext cx="48675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5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3700">
                <a:solidFill>
                  <a:srgbClr val="FFA3E0"/>
                </a:solidFill>
              </a:rPr>
              <a:t>Solution for the exercise</a:t>
            </a:r>
            <a:endParaRPr sz="3700">
              <a:solidFill>
                <a:srgbClr val="FFA3E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rgbClr val="FFA3E0"/>
                </a:solidFill>
              </a:rPr>
              <a:t>────୨ৎ────</a:t>
            </a:r>
            <a:endParaRPr>
              <a:solidFill>
                <a:srgbClr val="FFA3E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6"/>
          <p:cNvSpPr txBox="1"/>
          <p:nvPr>
            <p:ph type="title"/>
          </p:nvPr>
        </p:nvSpPr>
        <p:spPr>
          <a:xfrm>
            <a:off x="2629364" y="143260"/>
            <a:ext cx="3885300" cy="3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FFA3E0"/>
                </a:solidFill>
              </a:rPr>
              <a:t>•·　•·°　.　•*✵✷★.°•.*°　✷　☆ ✯*• °*.*　*°°.•　·　°·*</a:t>
            </a:r>
            <a:endParaRPr sz="4200">
              <a:solidFill>
                <a:srgbClr val="FFA3E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FFA3E0"/>
                </a:solidFill>
              </a:rPr>
              <a:t>Snack Break</a:t>
            </a:r>
            <a:endParaRPr sz="4200">
              <a:solidFill>
                <a:srgbClr val="FFA3E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type="title"/>
          </p:nvPr>
        </p:nvSpPr>
        <p:spPr>
          <a:xfrm>
            <a:off x="1099000" y="1133850"/>
            <a:ext cx="7113300" cy="28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4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100"/>
              <a:buNone/>
            </a:pPr>
            <a:r>
              <a:rPr b="1" lang="en" sz="2300">
                <a:solidFill>
                  <a:srgbClr val="FFA3E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4200">
                <a:solidFill>
                  <a:srgbClr val="FFA3E0"/>
                </a:solidFill>
              </a:rPr>
              <a:t>ADVANCED</a:t>
            </a:r>
            <a:endParaRPr sz="4200">
              <a:solidFill>
                <a:srgbClr val="FFA3E0"/>
              </a:solidFill>
            </a:endParaRPr>
          </a:p>
          <a:p>
            <a:pPr indent="-1143000" lvl="0" marL="1143000" marR="0" rtl="0" algn="ctr">
              <a:lnSpc>
                <a:spcPct val="1232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A3E0"/>
                </a:solidFill>
              </a:rPr>
              <a:t>Adding a sketch to a website</a:t>
            </a:r>
            <a:endParaRPr>
              <a:solidFill>
                <a:srgbClr val="FFA3E0"/>
              </a:solidFill>
            </a:endParaRPr>
          </a:p>
          <a:p>
            <a:pPr indent="-1143000" lvl="0" marL="1143000" marR="0" rtl="0" algn="ctr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FFA3E0"/>
                </a:solidFill>
                <a:latin typeface="Arial"/>
                <a:ea typeface="Arial"/>
                <a:cs typeface="Arial"/>
                <a:sym typeface="Arial"/>
              </a:rPr>
              <a:t>𓇼𓆡⋆.˚𓇼⋆.˚𓆉𓆝</a:t>
            </a:r>
            <a:endParaRPr sz="4200">
              <a:solidFill>
                <a:srgbClr val="FFA3E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type="title"/>
          </p:nvPr>
        </p:nvSpPr>
        <p:spPr>
          <a:xfrm>
            <a:off x="687825" y="225517"/>
            <a:ext cx="7768500" cy="5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A3E0"/>
                </a:solidFill>
                <a:latin typeface="Arial"/>
                <a:ea typeface="Arial"/>
                <a:cs typeface="Arial"/>
                <a:sym typeface="Arial"/>
              </a:rPr>
              <a:t>Text editor </a:t>
            </a:r>
            <a:r>
              <a:rPr lang="en">
                <a:solidFill>
                  <a:srgbClr val="FFA3E0"/>
                </a:solidFill>
                <a:latin typeface="Arial"/>
                <a:ea typeface="Arial"/>
                <a:cs typeface="Arial"/>
                <a:sym typeface="Arial"/>
              </a:rPr>
              <a:t>≽༏≼ ๑ï 𖢥 𐦍 𓆨.𖥔 ݁ ˖</a:t>
            </a:r>
            <a:endParaRPr/>
          </a:p>
        </p:txBody>
      </p:sp>
      <p:sp>
        <p:nvSpPr>
          <p:cNvPr id="198" name="Google Shape;198;p38"/>
          <p:cNvSpPr txBox="1"/>
          <p:nvPr/>
        </p:nvSpPr>
        <p:spPr>
          <a:xfrm>
            <a:off x="826522" y="1506459"/>
            <a:ext cx="6026400" cy="15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For this exercise you’ll need a code text editor, if you don’t already have one:</a:t>
            </a:r>
            <a:endParaRPr sz="14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90500" lvl="0" marL="203200" rtl="0" algn="l"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400"/>
              <a:buFont typeface="Droid Sans Mono"/>
              <a:buChar char="●"/>
            </a:pPr>
            <a:r>
              <a:rPr lang="en" sz="14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Try </a:t>
            </a:r>
            <a:r>
              <a:rPr lang="en" sz="1400" u="sng">
                <a:solidFill>
                  <a:srgbClr val="9BF199"/>
                </a:solidFill>
                <a:latin typeface="Droid Sans Mono"/>
                <a:ea typeface="Droid Sans Mono"/>
                <a:cs typeface="Droid Sans Mono"/>
                <a:sym typeface="Droid Sans Mon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Sublime</a:t>
            </a:r>
            <a:r>
              <a:rPr lang="en" sz="1400">
                <a:solidFill>
                  <a:srgbClr val="9BF19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 </a:t>
            </a:r>
            <a:endParaRPr sz="1400">
              <a:solidFill>
                <a:srgbClr val="9BF19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90500" lvl="0" marL="203200" rtl="0" algn="l"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400"/>
              <a:buFont typeface="Droid Sans Mono"/>
              <a:buChar char="●"/>
            </a:pPr>
            <a:r>
              <a:rPr lang="en" sz="14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Or </a:t>
            </a:r>
            <a:r>
              <a:rPr lang="en" sz="1400" u="sng">
                <a:solidFill>
                  <a:srgbClr val="9BF199"/>
                </a:solidFill>
                <a:latin typeface="Droid Sans Mono"/>
                <a:ea typeface="Droid Sans Mono"/>
                <a:cs typeface="Droid Sans Mono"/>
                <a:sym typeface="Droid Sans Mon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VSCode</a:t>
            </a:r>
            <a:endParaRPr sz="1400">
              <a:solidFill>
                <a:srgbClr val="9BF19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 txBox="1"/>
          <p:nvPr>
            <p:ph type="title"/>
          </p:nvPr>
        </p:nvSpPr>
        <p:spPr>
          <a:xfrm>
            <a:off x="687825" y="225517"/>
            <a:ext cx="7768500" cy="5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A3E0"/>
                </a:solidFill>
                <a:latin typeface="Arial"/>
                <a:ea typeface="Arial"/>
                <a:cs typeface="Arial"/>
                <a:sym typeface="Arial"/>
              </a:rPr>
              <a:t>Our files ₊˚⊹♡✶⋆.˚</a:t>
            </a:r>
            <a:endParaRPr/>
          </a:p>
        </p:txBody>
      </p:sp>
      <p:sp>
        <p:nvSpPr>
          <p:cNvPr id="204" name="Google Shape;204;p39"/>
          <p:cNvSpPr txBox="1"/>
          <p:nvPr/>
        </p:nvSpPr>
        <p:spPr>
          <a:xfrm>
            <a:off x="826522" y="1506459"/>
            <a:ext cx="6026400" cy="13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90500" lvl="0" marL="203200" rtl="0" algn="l"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400"/>
              <a:buFont typeface="Droid Sans Mono"/>
              <a:buChar char="●"/>
            </a:pPr>
            <a:r>
              <a:rPr lang="en" sz="14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index.html </a:t>
            </a:r>
            <a:endParaRPr sz="14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90500" lvl="0" marL="203200" rtl="0" algn="l"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400"/>
              <a:buFont typeface="Droid Sans Mono"/>
              <a:buChar char="●"/>
            </a:pPr>
            <a:r>
              <a:rPr lang="en" sz="14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style.css</a:t>
            </a:r>
            <a:endParaRPr sz="14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-190500" lvl="0" marL="203200" rtl="0" algn="l">
              <a:spcBef>
                <a:spcPts val="0"/>
              </a:spcBef>
              <a:spcAft>
                <a:spcPts val="0"/>
              </a:spcAft>
              <a:buClr>
                <a:srgbClr val="F4EDE9"/>
              </a:buClr>
              <a:buSzPts val="1400"/>
              <a:buFont typeface="Droid Sans Mono"/>
              <a:buChar char="●"/>
            </a:pPr>
            <a:r>
              <a:rPr lang="en" sz="14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sketch.js</a:t>
            </a:r>
            <a:endParaRPr sz="14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687825" y="225517"/>
            <a:ext cx="7768500" cy="5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A3E0"/>
                </a:solidFill>
              </a:rPr>
              <a:t>I</a:t>
            </a:r>
            <a:r>
              <a:rPr lang="en">
                <a:solidFill>
                  <a:srgbClr val="FFA3E0"/>
                </a:solidFill>
              </a:rPr>
              <a:t>ndex.html  ⃝✵</a:t>
            </a:r>
            <a:endParaRPr>
              <a:solidFill>
                <a:srgbClr val="FFA3E0"/>
              </a:solidFill>
            </a:endParaRPr>
          </a:p>
        </p:txBody>
      </p:sp>
      <p:sp>
        <p:nvSpPr>
          <p:cNvPr id="210" name="Google Shape;210;p40"/>
          <p:cNvSpPr txBox="1"/>
          <p:nvPr/>
        </p:nvSpPr>
        <p:spPr>
          <a:xfrm>
            <a:off x="606815" y="931182"/>
            <a:ext cx="9599700" cy="41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&lt;!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DOCTYPE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>
                <a:solidFill>
                  <a:srgbClr val="EBE71F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00">
              <a:solidFill>
                <a:srgbClr val="FFEEEE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00">
              <a:solidFill>
                <a:srgbClr val="FFEEEE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8F8F8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00">
              <a:solidFill>
                <a:srgbClr val="FFEEEE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Creative Coding Yay!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00">
              <a:solidFill>
                <a:srgbClr val="FFEEEE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link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>
                <a:solidFill>
                  <a:srgbClr val="EBE71F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rel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400">
                <a:solidFill>
                  <a:srgbClr val="E8FFE5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"stylesheet"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>
                <a:solidFill>
                  <a:srgbClr val="EBE71F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href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400">
                <a:solidFill>
                  <a:srgbClr val="E8FFE5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"./style.css"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00">
              <a:solidFill>
                <a:srgbClr val="FFEEEE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meta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>
                <a:solidFill>
                  <a:srgbClr val="EBE71F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400">
                <a:solidFill>
                  <a:srgbClr val="E8FFE5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"viewport"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>
                <a:solidFill>
                  <a:srgbClr val="EBE71F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content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400">
                <a:solidFill>
                  <a:srgbClr val="E8FFE5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"width=device-width, initial-scale=1.0"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00">
              <a:solidFill>
                <a:srgbClr val="FFEEEE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Softer Creative Coding Course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00">
              <a:solidFill>
                <a:srgbClr val="FFEEEE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>
                <a:solidFill>
                  <a:srgbClr val="EBE71F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400">
                <a:solidFill>
                  <a:srgbClr val="E8FFE5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"https://cdn.jsdelivr.net/npm/p5@2.0.0/lib/p5.min.js"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00">
              <a:solidFill>
                <a:srgbClr val="FFEEEE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head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00">
              <a:solidFill>
                <a:srgbClr val="FFEEEE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8F8F8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00">
              <a:solidFill>
                <a:srgbClr val="FFEEEE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Hey hi!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h1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00">
              <a:solidFill>
                <a:srgbClr val="FFEEEE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Look at my beautiful drawing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h2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00">
              <a:solidFill>
                <a:srgbClr val="FFEEEE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>
                <a:solidFill>
                  <a:srgbClr val="EBE71F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src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b="1" lang="en" sz="1400">
                <a:solidFill>
                  <a:srgbClr val="E8FFE5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"sketch.js"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&gt;&lt;/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script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00">
              <a:solidFill>
                <a:srgbClr val="FFEEEE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00">
              <a:solidFill>
                <a:srgbClr val="FFEEEE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8F8F8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&lt;/</a:t>
            </a:r>
            <a:r>
              <a:rPr b="1" lang="en" sz="1400">
                <a:solidFill>
                  <a:srgbClr val="FF59C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1" lang="en" sz="1400">
                <a:solidFill>
                  <a:srgbClr val="FFEEEE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endParaRPr b="1" sz="1400">
              <a:solidFill>
                <a:srgbClr val="FFEEEE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4EDE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1"/>
          <p:cNvSpPr txBox="1"/>
          <p:nvPr>
            <p:ph type="title"/>
          </p:nvPr>
        </p:nvSpPr>
        <p:spPr>
          <a:xfrm>
            <a:off x="687825" y="225517"/>
            <a:ext cx="7768500" cy="5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A3E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">
                <a:solidFill>
                  <a:srgbClr val="FFA3E0"/>
                </a:solidFill>
                <a:latin typeface="Arial"/>
                <a:ea typeface="Arial"/>
                <a:cs typeface="Arial"/>
                <a:sym typeface="Arial"/>
              </a:rPr>
              <a:t>tyle.css 𖦹 </a:t>
            </a:r>
            <a:endParaRPr/>
          </a:p>
        </p:txBody>
      </p:sp>
      <p:sp>
        <p:nvSpPr>
          <p:cNvPr id="216" name="Google Shape;216;p41"/>
          <p:cNvSpPr txBox="1"/>
          <p:nvPr/>
        </p:nvSpPr>
        <p:spPr>
          <a:xfrm>
            <a:off x="680043" y="1569222"/>
            <a:ext cx="8134500" cy="3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9BF199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body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400">
                <a:solidFill>
                  <a:srgbClr val="9BF199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html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1400">
              <a:solidFill>
                <a:srgbClr val="F8F8F8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>
                <a:solidFill>
                  <a:srgbClr val="FFCCF0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margin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en" sz="1400">
                <a:solidFill>
                  <a:srgbClr val="FFE862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400">
              <a:solidFill>
                <a:srgbClr val="F8F8F8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>
                <a:solidFill>
                  <a:srgbClr val="FFCCF0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padding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en" sz="1400">
                <a:solidFill>
                  <a:srgbClr val="FFE862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400">
              <a:solidFill>
                <a:srgbClr val="F8F8F8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>
                <a:solidFill>
                  <a:srgbClr val="FFCCF0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height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en" sz="1400">
                <a:solidFill>
                  <a:srgbClr val="FFE862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b="1" lang="en" sz="1400">
                <a:solidFill>
                  <a:srgbClr val="FF419A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%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400">
              <a:solidFill>
                <a:srgbClr val="F8F8F8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>
                <a:solidFill>
                  <a:srgbClr val="FFCCF0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overflow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i="1" lang="en" sz="1400">
                <a:solidFill>
                  <a:srgbClr val="FFE862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hidden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400">
              <a:solidFill>
                <a:srgbClr val="F8F8F8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400">
              <a:solidFill>
                <a:srgbClr val="F8F8F8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8F8F8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9BF199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canvas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1400">
              <a:solidFill>
                <a:srgbClr val="F8F8F8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>
                <a:solidFill>
                  <a:srgbClr val="FFCCF0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position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i="1" lang="en" sz="1400">
                <a:solidFill>
                  <a:srgbClr val="FFE862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fixed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400">
              <a:solidFill>
                <a:srgbClr val="F8F8F8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>
                <a:solidFill>
                  <a:srgbClr val="FFCCF0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top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en" sz="1400">
                <a:solidFill>
                  <a:srgbClr val="FFE862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400">
              <a:solidFill>
                <a:srgbClr val="F8F8F8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>
                <a:solidFill>
                  <a:srgbClr val="FFCCF0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left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en" sz="1400">
                <a:solidFill>
                  <a:srgbClr val="FFE862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400">
              <a:solidFill>
                <a:srgbClr val="F8F8F8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400">
                <a:solidFill>
                  <a:srgbClr val="FFCCF0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z-index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en" sz="1400">
                <a:solidFill>
                  <a:srgbClr val="FFE862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1400">
              <a:solidFill>
                <a:srgbClr val="F8F8F8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8F8F8"/>
                </a:solidFill>
                <a:highlight>
                  <a:srgbClr val="2C0D1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400">
              <a:solidFill>
                <a:srgbClr val="F8F8F8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8F8F8"/>
              </a:solidFill>
              <a:highlight>
                <a:srgbClr val="2C0D1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lt1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2"/>
          <p:cNvSpPr txBox="1"/>
          <p:nvPr>
            <p:ph type="title"/>
          </p:nvPr>
        </p:nvSpPr>
        <p:spPr>
          <a:xfrm>
            <a:off x="687825" y="225517"/>
            <a:ext cx="7768500" cy="5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A3E0"/>
                </a:solidFill>
                <a:latin typeface="Arial"/>
                <a:ea typeface="Arial"/>
                <a:cs typeface="Arial"/>
                <a:sym typeface="Arial"/>
              </a:rPr>
              <a:t>sketch.js</a:t>
            </a:r>
            <a:r>
              <a:rPr lang="en">
                <a:solidFill>
                  <a:srgbClr val="FFA3E0"/>
                </a:solidFill>
                <a:latin typeface="Arial"/>
                <a:ea typeface="Arial"/>
                <a:cs typeface="Arial"/>
                <a:sym typeface="Arial"/>
              </a:rPr>
              <a:t> ⃝𖤐</a:t>
            </a:r>
            <a:endParaRPr/>
          </a:p>
        </p:txBody>
      </p:sp>
      <p:sp>
        <p:nvSpPr>
          <p:cNvPr id="222" name="Google Shape;222;p42"/>
          <p:cNvSpPr txBox="1"/>
          <p:nvPr/>
        </p:nvSpPr>
        <p:spPr>
          <a:xfrm>
            <a:off x="826522" y="1506459"/>
            <a:ext cx="60264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4EDE9"/>
                </a:solidFill>
                <a:latin typeface="Droid Sans Mono"/>
                <a:ea typeface="Droid Sans Mono"/>
                <a:cs typeface="Droid Sans Mono"/>
                <a:sym typeface="Droid Sans Mono"/>
              </a:rPr>
              <a:t>In here we will add code from our favorite sketch</a:t>
            </a:r>
            <a:endParaRPr sz="1400">
              <a:solidFill>
                <a:srgbClr val="F4EDE9"/>
              </a:solidFill>
              <a:latin typeface="Droid Sans Mono"/>
              <a:ea typeface="Droid Sans Mono"/>
              <a:cs typeface="Droid Sans Mono"/>
              <a:sym typeface="Droid Sans Mon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C0D1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3"/>
          <p:cNvSpPr txBox="1"/>
          <p:nvPr>
            <p:ph type="title"/>
          </p:nvPr>
        </p:nvSpPr>
        <p:spPr>
          <a:xfrm>
            <a:off x="570589" y="1184391"/>
            <a:ext cx="8002800" cy="27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2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r>
              <a:rPr lang="en" sz="4200">
                <a:solidFill>
                  <a:srgbClr val="FFA3E0"/>
                </a:solidFill>
              </a:rPr>
              <a:t>⊹₊˚‧︵‿₊୨ᰔ୧₊‿︵‧˚₊⊹</a:t>
            </a:r>
            <a:endParaRPr sz="4200">
              <a:solidFill>
                <a:srgbClr val="FFA3E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rgbClr val="FFA3E0"/>
                </a:solidFill>
              </a:rPr>
              <a:t>Thank you!</a:t>
            </a:r>
            <a:endParaRPr sz="4200">
              <a:solidFill>
                <a:srgbClr val="FFA3E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rgbClr val="FFA3E0"/>
              </a:solidFill>
            </a:endParaRPr>
          </a:p>
          <a:p>
            <a:pPr indent="0" lvl="0" marL="0" marR="0" rtl="0" algn="ctr">
              <a:lnSpc>
                <a:spcPct val="1216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rgbClr val="9BF19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Happy Coding p5js Tutorials</a:t>
            </a:r>
            <a:r>
              <a:rPr lang="en" sz="1400" u="none">
                <a:solidFill>
                  <a:srgbClr val="9BF199"/>
                </a:solidFill>
              </a:rPr>
              <a:t> </a:t>
            </a:r>
            <a:endParaRPr sz="1400" u="none">
              <a:solidFill>
                <a:srgbClr val="9BF199"/>
              </a:solidFill>
            </a:endParaRPr>
          </a:p>
          <a:p>
            <a:pPr indent="0" lvl="0" marL="0" marR="0" rtl="0" algn="ctr">
              <a:lnSpc>
                <a:spcPct val="1216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400" u="sng">
                <a:solidFill>
                  <a:srgbClr val="9BF199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Coding Train Youtube</a:t>
            </a:r>
            <a:endParaRPr sz="1400">
              <a:solidFill>
                <a:srgbClr val="9BF19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